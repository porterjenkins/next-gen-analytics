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300" r:id="rId2"/>
    <p:sldId id="301" r:id="rId3"/>
    <p:sldId id="302" r:id="rId4"/>
    <p:sldId id="303" r:id="rId5"/>
    <p:sldId id="304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05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5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323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ob1" descr="preencoded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-1371600" y="-914400"/>
            <a:ext cx="5486400" cy="5486400"/>
          </a:xfrm>
          <a:prstGeom prst="rect">
            <a:avLst/>
          </a:prstGeom>
        </p:spPr>
      </p:pic>
      <p:pic>
        <p:nvPicPr>
          <p:cNvPr id="4" name="Accent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43000"/>
            <a:ext cx="2286000" cy="36576"/>
          </a:xfrm>
          <a:prstGeom prst="rect">
            <a:avLst/>
          </a:prstGeom>
        </p:spPr>
      </p:pic>
      <p:sp>
        <p:nvSpPr>
          <p:cNvPr id="5" name="Text 5"/>
          <p:cNvSpPr/>
          <p:nvPr/>
        </p:nvSpPr>
        <p:spPr>
          <a:xfrm>
            <a:off x="731520" y="14173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 + Wrap-Up</a:t>
            </a:r>
          </a:p>
        </p:txBody>
      </p:sp>
      <p:sp>
        <p:nvSpPr>
          <p:cNvPr id="6" name="Text 6"/>
          <p:cNvSpPr/>
          <p:nvPr/>
        </p:nvSpPr>
        <p:spPr>
          <a:xfrm>
            <a:off x="731520" y="2743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ideas and exploring impact on your teams</a:t>
            </a:r>
          </a:p>
        </p:txBody>
      </p:sp>
      <p:sp>
        <p:nvSpPr>
          <p:cNvPr id="7" name="Text 7"/>
          <p:cNvSpPr/>
          <p:nvPr/>
        </p:nvSpPr>
        <p:spPr>
          <a:xfrm>
            <a:off x="73152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Jenkins, PhD  |  April 2026</a:t>
            </a:r>
          </a:p>
        </p:txBody>
      </p:sp>
      <p:pic>
        <p:nvPicPr>
          <p:cNvPr id="8" name="BottomBar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79492"/>
            <a:ext cx="9144000" cy="640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ssionRecap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73152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spc="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RECAP</a:t>
            </a:r>
          </a:p>
        </p:txBody>
      </p:sp>
      <p:sp>
        <p:nvSpPr>
          <p:cNvPr id="3" name="Text 3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4F4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Covered Today</a:t>
            </a:r>
          </a:p>
        </p:txBody>
      </p:sp>
      <p:sp>
        <p:nvSpPr>
          <p:cNvPr id="4" name="Text 4"/>
          <p:cNvSpPr/>
          <p:nvPr/>
        </p:nvSpPr>
        <p:spPr>
          <a:xfrm>
            <a:off x="731520" y="12801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approaches to unlocking more value from the data you already have:</a:t>
            </a:r>
          </a:p>
        </p:txBody>
      </p:sp>
      <p:sp>
        <p:nvSpPr>
          <p:cNvPr id="5" name="Card 5"/>
          <p:cNvSpPr/>
          <p:nvPr/>
        </p:nvSpPr>
        <p:spPr>
          <a:xfrm>
            <a:off x="731520" y="1828800"/>
            <a:ext cx="2468880" cy="3017520"/>
          </a:xfrm>
          <a:prstGeom prst="rect">
            <a:avLst/>
          </a:prstGeom>
          <a:solidFill>
            <a:srgbClr val="16161E"/>
          </a:solidFill>
          <a:ln w="6350">
            <a:solidFill>
              <a:srgbClr val="2A2A3A"/>
            </a:solidFill>
            <a:prstDash val="solid"/>
          </a:ln>
        </p:spPr>
      </p:sp>
      <p:pic>
        <p:nvPicPr>
          <p:cNvPr id="6" name="Accent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2468880" cy="36576"/>
          </a:xfrm>
          <a:prstGeom prst="rect">
            <a:avLst/>
          </a:prstGeom>
        </p:spPr>
      </p:pic>
      <p:sp>
        <p:nvSpPr>
          <p:cNvPr id="7" name="Text 7"/>
          <p:cNvSpPr/>
          <p:nvPr/>
        </p:nvSpPr>
        <p:spPr>
          <a:xfrm>
            <a:off x="73152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Extraction</a:t>
            </a:r>
          </a:p>
        </p:txBody>
      </p:sp>
      <p:sp>
        <p:nvSpPr>
          <p:cNvPr id="8" name="Text 8"/>
          <p:cNvSpPr/>
          <p:nvPr/>
        </p:nvSpPr>
        <p:spPr>
          <a:xfrm>
            <a:off x="868680" y="2331720"/>
            <a:ext cx="2194560" cy="24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notes and unstructured data go unused across the organization.</a:t>
            </a:r>
          </a:p>
          <a:p>
            <a:pPr marL="0" indent="0">
              <a:lnSpc>
                <a:spcPts val="1800"/>
              </a:lnSpc>
              <a:buNone/>
            </a:pPr>
            <a:endParaRPr lang="en-US" sz="1000" dirty="0">
              <a:solidFill>
                <a:srgbClr val="A1A1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and GraphRAG turn field notes into a queryable knowledge base and source of ML features.</a:t>
            </a:r>
          </a:p>
        </p:txBody>
      </p:sp>
      <p:sp>
        <p:nvSpPr>
          <p:cNvPr id="10" name="Card 10"/>
          <p:cNvSpPr/>
          <p:nvPr/>
        </p:nvSpPr>
        <p:spPr>
          <a:xfrm>
            <a:off x="3337560" y="1828800"/>
            <a:ext cx="2468880" cy="3017520"/>
          </a:xfrm>
          <a:prstGeom prst="rect">
            <a:avLst/>
          </a:prstGeom>
          <a:solidFill>
            <a:srgbClr val="16161E"/>
          </a:solidFill>
          <a:ln w="6350">
            <a:solidFill>
              <a:srgbClr val="2A2A3A"/>
            </a:solidFill>
            <a:prstDash val="solid"/>
          </a:ln>
        </p:spPr>
      </p:sp>
      <p:pic>
        <p:nvPicPr>
          <p:cNvPr id="11" name="Accent 1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828800"/>
            <a:ext cx="2468880" cy="36576"/>
          </a:xfrm>
          <a:prstGeom prst="rect">
            <a:avLst/>
          </a:prstGeom>
        </p:spPr>
      </p:pic>
      <p:sp>
        <p:nvSpPr>
          <p:cNvPr id="12" name="Text 12"/>
          <p:cNvSpPr/>
          <p:nvPr/>
        </p:nvSpPr>
        <p:spPr>
          <a:xfrm>
            <a:off x="333756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NLQ + Chat Analytics</a:t>
            </a:r>
          </a:p>
        </p:txBody>
      </p:sp>
      <p:sp>
        <p:nvSpPr>
          <p:cNvPr id="13" name="Text 13"/>
          <p:cNvSpPr/>
          <p:nvPr/>
        </p:nvSpPr>
        <p:spPr>
          <a:xfrm>
            <a:off x="3474720" y="2331720"/>
            <a:ext cx="2194560" cy="24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can’t write SQL, so analysts spend time as “human APIs” to the warehouse.</a:t>
            </a:r>
          </a:p>
          <a:p>
            <a:pPr marL="0" indent="0">
              <a:lnSpc>
                <a:spcPts val="1800"/>
              </a:lnSpc>
              <a:buNone/>
            </a:pPr>
            <a:endParaRPr lang="en-US" sz="1000" dirty="0">
              <a:solidFill>
                <a:srgbClr val="A1A1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Text2SQL, embeddings, and tool-use agents make the data warehouse self-serve.</a:t>
            </a:r>
          </a:p>
        </p:txBody>
      </p:sp>
      <p:sp>
        <p:nvSpPr>
          <p:cNvPr id="15" name="Card 15"/>
          <p:cNvSpPr/>
          <p:nvPr/>
        </p:nvSpPr>
        <p:spPr>
          <a:xfrm>
            <a:off x="5943600" y="1828800"/>
            <a:ext cx="2468880" cy="3017520"/>
          </a:xfrm>
          <a:prstGeom prst="rect">
            <a:avLst/>
          </a:prstGeom>
          <a:solidFill>
            <a:srgbClr val="16161E"/>
          </a:solidFill>
          <a:ln w="6350">
            <a:solidFill>
              <a:srgbClr val="2A2A3A"/>
            </a:solidFill>
            <a:prstDash val="solid"/>
          </a:ln>
        </p:spPr>
      </p:sp>
      <p:pic>
        <p:nvPicPr>
          <p:cNvPr id="16" name="Accent 1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2468880" cy="36576"/>
          </a:xfrm>
          <a:prstGeom prst="rect">
            <a:avLst/>
          </a:prstGeom>
        </p:spPr>
      </p:pic>
      <p:sp>
        <p:nvSpPr>
          <p:cNvPr id="17" name="Text 17"/>
          <p:cNvSpPr/>
          <p:nvPr/>
        </p:nvSpPr>
        <p:spPr>
          <a:xfrm>
            <a:off x="594360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AI-Based Modeling</a:t>
            </a:r>
          </a:p>
        </p:txBody>
      </p:sp>
      <p:sp>
        <p:nvSpPr>
          <p:cNvPr id="18" name="Text 18"/>
          <p:cNvSpPr/>
          <p:nvPr/>
        </p:nvSpPr>
        <p:spPr>
          <a:xfrm>
            <a:off x="6080760" y="2331720"/>
            <a:ext cx="2194560" cy="24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data is high-volume and temporal; dashboards miss patterns, anomalies, and forecasts.</a:t>
            </a:r>
          </a:p>
          <a:p>
            <a:pPr marL="0" indent="0">
              <a:lnSpc>
                <a:spcPts val="1800"/>
              </a:lnSpc>
              <a:buNone/>
            </a:pPr>
            <a:endParaRPr lang="en-US" sz="1000" dirty="0">
              <a:solidFill>
                <a:srgbClr val="A1A1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TabPFN, NeuralProphet, and LLMTime reduce custom model-building and deliver productized analytics.</a:t>
            </a:r>
          </a:p>
        </p:txBody>
      </p:sp>
      <p:pic>
        <p:nvPicPr>
          <p:cNvPr id="20" name="BottomBa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492"/>
            <a:ext cx="9144000" cy="640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monThread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73152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spc="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THREAD</a:t>
            </a:r>
          </a:p>
        </p:txBody>
      </p:sp>
      <p:sp>
        <p:nvSpPr>
          <p:cNvPr id="3" name="Text 3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4F4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Manual Work to AI-Augmented Analytics</a:t>
            </a:r>
          </a:p>
        </p:txBody>
      </p:sp>
      <p:sp>
        <p:nvSpPr>
          <p:cNvPr id="4" name="Text 4"/>
          <p:cNvSpPr/>
          <p:nvPr/>
        </p:nvSpPr>
        <p:spPr>
          <a:xfrm>
            <a:off x="731520" y="12801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topics share a single pattern: replacing per-task manual effort with reusable AI infrastructure.</a:t>
            </a:r>
          </a:p>
        </p:txBody>
      </p:sp>
      <p:sp>
        <p:nvSpPr>
          <p:cNvPr id="5" name="Card 5"/>
          <p:cNvSpPr/>
          <p:nvPr/>
        </p:nvSpPr>
        <p:spPr>
          <a:xfrm>
            <a:off x="731520" y="1920240"/>
            <a:ext cx="3749040" cy="2880360"/>
          </a:xfrm>
          <a:prstGeom prst="rect">
            <a:avLst/>
          </a:prstGeom>
          <a:solidFill>
            <a:srgbClr val="16161E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731520" y="2057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Before: Per-Task Manual Effort</a:t>
            </a:r>
          </a:p>
        </p:txBody>
      </p:sp>
      <p:sp>
        <p:nvSpPr>
          <p:cNvPr id="8" name="Text 8"/>
          <p:cNvSpPr/>
          <p:nvPr/>
        </p:nvSpPr>
        <p:spPr>
          <a:xfrm>
            <a:off x="868680" y="2468880"/>
            <a:ext cx="3474720" cy="22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manually read field notes and tag data</a:t>
            </a:r>
          </a:p>
          <a:p>
            <a:pPr marL="0" indent="0">
              <a:lnSpc>
                <a:spcPts val="1800"/>
              </a:lnSpc>
              <a:buNone/>
            </a:pPr>
            <a:endParaRPr lang="en-US" sz="1100" dirty="0">
              <a:solidFill>
                <a:srgbClr val="A1A1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stakeholder request requires a custom SQL query written by an analyst</a:t>
            </a:r>
          </a:p>
          <a:p>
            <a:pPr marL="0" indent="0">
              <a:lnSpc>
                <a:spcPts val="1800"/>
              </a:lnSpc>
              <a:buNone/>
            </a:pPr>
            <a:endParaRPr lang="en-US" sz="1100" dirty="0">
              <a:solidFill>
                <a:srgbClr val="A1A1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forecasting or classification problem starts from scratch with a custom model</a:t>
            </a:r>
          </a:p>
          <a:p>
            <a:pPr marL="0" indent="0">
              <a:lnSpc>
                <a:spcPts val="1800"/>
              </a:lnSpc>
              <a:buNone/>
            </a:pPr>
            <a:endParaRPr lang="en-US" sz="1100" dirty="0">
              <a:solidFill>
                <a:srgbClr val="A1A1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~90% of analyst time on exploratory work, ~10% on modeling</a:t>
            </a:r>
          </a:p>
        </p:txBody>
      </p:sp>
      <p:sp>
        <p:nvSpPr>
          <p:cNvPr id="10" name="Card 10"/>
          <p:cNvSpPr/>
          <p:nvPr/>
        </p:nvSpPr>
        <p:spPr>
          <a:xfrm>
            <a:off x="4617720" y="1920240"/>
            <a:ext cx="3749040" cy="2880360"/>
          </a:xfrm>
          <a:prstGeom prst="rect">
            <a:avLst/>
          </a:prstGeom>
          <a:solidFill>
            <a:srgbClr val="16161E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2" name="Text 12"/>
          <p:cNvSpPr/>
          <p:nvPr/>
        </p:nvSpPr>
        <p:spPr>
          <a:xfrm>
            <a:off x="4617720" y="2057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After: AI-Augmented Self-Serve</a:t>
            </a:r>
          </a:p>
        </p:txBody>
      </p:sp>
      <p:sp>
        <p:nvSpPr>
          <p:cNvPr id="13" name="Text 13"/>
          <p:cNvSpPr/>
          <p:nvPr/>
        </p:nvSpPr>
        <p:spPr>
          <a:xfrm>
            <a:off x="4754880" y="2468880"/>
            <a:ext cx="3474720" cy="22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pipelines extract and index knowledge automatically from unstructured sources</a:t>
            </a:r>
          </a:p>
          <a:p>
            <a:pPr marL="0" indent="0">
              <a:lnSpc>
                <a:spcPts val="1800"/>
              </a:lnSpc>
              <a:buNone/>
            </a:pPr>
            <a:endParaRPr lang="en-US" sz="1100" dirty="0">
              <a:solidFill>
                <a:srgbClr val="A1A1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interfaces let anyone query the warehouse directly</a:t>
            </a:r>
          </a:p>
          <a:p>
            <a:pPr marL="0" indent="0">
              <a:lnSpc>
                <a:spcPts val="1800"/>
              </a:lnSpc>
              <a:buNone/>
            </a:pPr>
            <a:endParaRPr lang="en-US" sz="1100" dirty="0">
              <a:solidFill>
                <a:srgbClr val="A1A1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(TabPFN) and pretrained forecasters predict on new data in seconds</a:t>
            </a:r>
          </a:p>
          <a:p>
            <a:pPr marL="0" indent="0">
              <a:lnSpc>
                <a:spcPts val="1800"/>
              </a:lnSpc>
              <a:buNone/>
            </a:pPr>
            <a:endParaRPr lang="en-US" sz="1100" dirty="0">
              <a:solidFill>
                <a:srgbClr val="A1A1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flip the ratio — 80% modeling, 10% exploratory</a:t>
            </a:r>
          </a:p>
        </p:txBody>
      </p:sp>
      <p:pic>
        <p:nvPicPr>
          <p:cNvPr id="15" name="BottomBa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492"/>
            <a:ext cx="9144000" cy="640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scussion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73152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spc="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DISCUSSION</a:t>
            </a:r>
          </a:p>
        </p:txBody>
      </p:sp>
      <p:sp>
        <p:nvSpPr>
          <p:cNvPr id="3" name="Text 3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4F4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Can These Ideas Impact Your Team?</a:t>
            </a:r>
          </a:p>
        </p:txBody>
      </p:sp>
      <p:sp>
        <p:nvSpPr>
          <p:cNvPr id="4" name="Text 4"/>
          <p:cNvSpPr/>
          <p:nvPr/>
        </p:nvSpPr>
        <p:spPr>
          <a:xfrm>
            <a:off x="731520" y="12801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these questions for your specific context at Vivint:</a:t>
            </a:r>
          </a:p>
        </p:txBody>
      </p:sp>
      <p:sp>
        <p:nvSpPr>
          <p:cNvPr id="10" name="Card 10"/>
          <p:cNvSpPr/>
          <p:nvPr/>
        </p:nvSpPr>
        <p:spPr>
          <a:xfrm>
            <a:off x="731520" y="1828800"/>
            <a:ext cx="7680960" cy="685800"/>
          </a:xfrm>
          <a:prstGeom prst="rect">
            <a:avLst/>
          </a:prstGeom>
          <a:solidFill>
            <a:srgbClr val="16161E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868680" y="1965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</a:p>
        </p:txBody>
      </p:sp>
      <p:sp>
        <p:nvSpPr>
          <p:cNvPr id="12" name="Text 12"/>
          <p:cNvSpPr/>
          <p:nvPr/>
        </p:nvSpPr>
        <p:spPr>
          <a:xfrm>
            <a:off x="1462080" y="19659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unstructured data does your team generate or have access to today that goes underutilized? How could a RAG-based knowledge base surface value from it?</a:t>
            </a:r>
          </a:p>
        </p:txBody>
      </p:sp>
      <p:sp>
        <p:nvSpPr>
          <p:cNvPr id="14" name="Card 14"/>
          <p:cNvSpPr/>
          <p:nvPr/>
        </p:nvSpPr>
        <p:spPr>
          <a:xfrm>
            <a:off x="731520" y="2575560"/>
            <a:ext cx="7680960" cy="685800"/>
          </a:xfrm>
          <a:prstGeom prst="rect">
            <a:avLst/>
          </a:prstGeom>
          <a:solidFill>
            <a:srgbClr val="16161E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5" name="Text 15"/>
          <p:cNvSpPr/>
          <p:nvPr/>
        </p:nvSpPr>
        <p:spPr>
          <a:xfrm>
            <a:off x="868680" y="2712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</a:p>
        </p:txBody>
      </p:sp>
      <p:sp>
        <p:nvSpPr>
          <p:cNvPr id="16" name="Text 16"/>
          <p:cNvSpPr/>
          <p:nvPr/>
        </p:nvSpPr>
        <p:spPr>
          <a:xfrm>
            <a:off x="1462080" y="27127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recurring data requests from stakeholders consume the most analyst time? Could a Text2SQL or chat-based interface handle them?</a:t>
            </a:r>
          </a:p>
        </p:txBody>
      </p:sp>
      <p:sp>
        <p:nvSpPr>
          <p:cNvPr id="18" name="Card 18"/>
          <p:cNvSpPr/>
          <p:nvPr/>
        </p:nvSpPr>
        <p:spPr>
          <a:xfrm>
            <a:off x="731520" y="3322320"/>
            <a:ext cx="7680960" cy="685800"/>
          </a:xfrm>
          <a:prstGeom prst="rect">
            <a:avLst/>
          </a:prstGeom>
          <a:solidFill>
            <a:srgbClr val="16161E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9" name="Text 19"/>
          <p:cNvSpPr/>
          <p:nvPr/>
        </p:nvSpPr>
        <p:spPr>
          <a:xfrm>
            <a:off x="868680" y="3459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</a:p>
        </p:txBody>
      </p:sp>
      <p:sp>
        <p:nvSpPr>
          <p:cNvPr id="20" name="Text 20"/>
          <p:cNvSpPr/>
          <p:nvPr/>
        </p:nvSpPr>
        <p:spPr>
          <a:xfrm>
            <a:off x="1462080" y="34594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 building custom models from scratch that a pretrained approach (TabPFN, NeuralProphet) could accelerate or replace?</a:t>
            </a:r>
          </a:p>
        </p:txBody>
      </p:sp>
      <p:sp>
        <p:nvSpPr>
          <p:cNvPr id="22" name="Card 22"/>
          <p:cNvSpPr/>
          <p:nvPr/>
        </p:nvSpPr>
        <p:spPr>
          <a:xfrm>
            <a:off x="731520" y="4069080"/>
            <a:ext cx="7680960" cy="685800"/>
          </a:xfrm>
          <a:prstGeom prst="rect">
            <a:avLst/>
          </a:prstGeom>
          <a:solidFill>
            <a:srgbClr val="16161E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23" name="Text 23"/>
          <p:cNvSpPr/>
          <p:nvPr/>
        </p:nvSpPr>
        <p:spPr>
          <a:xfrm>
            <a:off x="868680" y="4206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</a:p>
        </p:txBody>
      </p:sp>
      <p:sp>
        <p:nvSpPr>
          <p:cNvPr id="24" name="Text 24"/>
          <p:cNvSpPr/>
          <p:nvPr/>
        </p:nvSpPr>
        <p:spPr>
          <a:xfrm>
            <a:off x="1462080" y="42062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could free up 50% of your team’s time from exploratory analysis, what advanced analytics or modeling work would you prioritize?</a:t>
            </a:r>
          </a:p>
        </p:txBody>
      </p:sp>
      <p:pic>
        <p:nvPicPr>
          <p:cNvPr id="30" name="BottomBa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492"/>
            <a:ext cx="9144000" cy="640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eyTakeaways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ob1" descr="preencoded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914400" y="-457200"/>
            <a:ext cx="7315200" cy="6400800"/>
          </a:xfrm>
          <a:prstGeom prst="rect">
            <a:avLst/>
          </a:prstGeom>
        </p:spPr>
      </p:pic>
      <p:sp>
        <p:nvSpPr>
          <p:cNvPr id="4" name="Text 4"/>
          <p:cNvSpPr/>
          <p:nvPr/>
        </p:nvSpPr>
        <p:spPr>
          <a:xfrm>
            <a:off x="731520" y="685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</a:p>
        </p:txBody>
      </p:sp>
      <p:sp>
        <p:nvSpPr>
          <p:cNvPr id="5" name="Bullets 5"/>
          <p:cNvSpPr/>
          <p:nvPr/>
        </p:nvSpPr>
        <p:spPr>
          <a:xfrm>
            <a:off x="731520" y="1554480"/>
            <a:ext cx="7680960" cy="2743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800"/>
              </a:spcAft>
              <a:buSzPct val="100000"/>
              <a:buFont typeface="Arial"/>
              <a:buChar char="●"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</a:rPr>
              <a:t> </a:t>
            </a: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 is an untapped asset — RAG and GraphRAG pipelines convert field notes, tickets, and documents into queryable knowledge and ML features.</a:t>
            </a:r>
          </a:p>
          <a:p>
            <a:pPr marL="228600" indent="-228600">
              <a:spcAft>
                <a:spcPts val="800"/>
              </a:spcAft>
              <a:buSzPct val="100000"/>
              <a:buFont typeface="Arial"/>
              <a:buChar char="●"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</a:rPr>
              <a:t> </a:t>
            </a: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analytics is within reach — Text2SQL with embedding-based retrieval and tool-calling agents let non-technical consumers query the warehouse directly.</a:t>
            </a:r>
          </a:p>
          <a:p>
            <a:pPr marL="228600" indent="-228600">
              <a:spcAft>
                <a:spcPts val="800"/>
              </a:spcAft>
              <a:buSzPct val="100000"/>
              <a:buFont typeface="Arial"/>
              <a:buChar char="●"/>
            </a:pPr>
            <a:r>
              <a:rPr lang="en-US" sz="1100" dirty="0">
                <a:solidFill>
                  <a:srgbClr val="EC4899"/>
                </a:solidFill>
                <a:latin typeface="Calibri" pitchFamily="34" charset="0"/>
              </a:rPr>
              <a:t> </a:t>
            </a: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are changing tabular and time-series work — TabPFN, NeuralProphet, and LLMTime reduce the need for per-dataset custom models.</a:t>
            </a:r>
          </a:p>
          <a:p>
            <a:pPr marL="228600" indent="-228600">
              <a:spcAft>
                <a:spcPts val="800"/>
              </a:spcAft>
              <a:buSzPct val="100000"/>
              <a:buFont typeface="Arial"/>
              <a:buChar char="●"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</a:rPr>
              <a:t> </a:t>
            </a: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theme: shift analyst effort from repetitive data extraction toward higher-value modeling, forecasting, and decision support.</a:t>
            </a:r>
          </a:p>
        </p:txBody>
      </p:sp>
      <p:sp>
        <p:nvSpPr>
          <p:cNvPr id="6" name="Text 6"/>
          <p:cNvSpPr/>
          <p:nvPr/>
        </p:nvSpPr>
        <p:spPr>
          <a:xfrm>
            <a:off x="73152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Jenkins, PhD</a:t>
            </a:r>
          </a:p>
        </p:txBody>
      </p:sp>
      <p:pic>
        <p:nvPicPr>
          <p:cNvPr id="7" name="BottomBar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492"/>
            <a:ext cx="9144000" cy="640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500</Words>
  <Application>Microsoft Macintosh PowerPoint</Application>
  <PresentationFormat>On-screen Show (16:9)</PresentationFormat>
  <Paragraphs>60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and the Changing Landscape of Software</dc:title>
  <dc:subject>PptxGenJS Presentation</dc:subject>
  <dc:creator>Porter Jenkins</dc:creator>
  <cp:lastModifiedBy>Porter Jenkins</cp:lastModifiedBy>
  <cp:revision>18</cp:revision>
  <dcterms:created xsi:type="dcterms:W3CDTF">2026-03-09T18:46:20Z</dcterms:created>
  <dcterms:modified xsi:type="dcterms:W3CDTF">2026-04-27T16:09:42Z</dcterms:modified>
</cp:coreProperties>
</file>